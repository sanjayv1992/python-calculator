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UTTAR PRADESH RAJARSHI TANDON OPEN UNIVERSITY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Shantipuram (Sector-F), Phaphamau, Prayagraj - 211013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50408" y="11887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6FB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550408" y="11887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27448" y="2423160"/>
            <a:ext cx="2743200" cy="310896"/>
          </a:xfrm>
          <a:prstGeom prst="rect">
            <a:avLst/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27448" y="2423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 BY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761488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[Student Name]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0" y="3291840"/>
            <a:ext cx="3044952" cy="310896"/>
          </a:xfrm>
          <a:prstGeom prst="rect">
            <a:avLst/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291840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GUIDANCE  OF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39312"/>
            <a:ext cx="7616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[Guide Name]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069080"/>
            <a:ext cx="8531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the College of [Department] in the partial fulfilment of the requirements for the degree of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902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BACHELOR OF SCIENCE (MATHEMATICS)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solidFill>
            <a:srgbClr val="F6D54A"/>
          </a:solidFill>
          <a:ln w="12700">
            <a:solidFill>
              <a:srgbClr val="F6D5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[Code]     TYPE: RESEARCH PROJECT     TITLE: [Paper Title]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669280"/>
            <a:ext cx="4754880" cy="685800"/>
          </a:xfrm>
          <a:prstGeom prst="rect">
            <a:avLst/>
          </a:prstGeom>
          <a:solidFill>
            <a:srgbClr val="F9D2A8"/>
          </a:solidFill>
          <a:ln w="12700">
            <a:solidFill>
              <a:srgbClr val="F9D2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687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Name], Assistant Professor, [College]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669280"/>
            <a:ext cx="4754880" cy="685800"/>
          </a:xfrm>
          <a:prstGeom prst="rect">
            <a:avLst/>
          </a:prstGeom>
          <a:solidFill>
            <a:srgbClr val="F9D2A8"/>
          </a:solidFill>
          <a:ln w="12700">
            <a:solidFill>
              <a:srgbClr val="F9D2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5687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Name], Enrollment No. [Enrollment No.]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Co-ordinator: [Co-ordinator Name], [College]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MERIT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82880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certified that </a:t>
            </a:r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B.Sc. (Mathematics), Enrollment No. [Enrollment No.], has completed the research project report </a:t>
            </a:r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[Paper Title]</a:t>
            </a:r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(Course Code: [Code]) under my guidance. The candidate has worked diligently on this project and bears a good moral character.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6118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wish the candidate success in all future academic endeavours.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(Mathematics)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Name], [City]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7548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Co-ordinator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[Co-ordinator Name]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(Co-ordinator), [College Name], [City]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how elementary facts about integers protect modern communication.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proofs of divisibility, primes, congruences, primitive roots and quadratic reciprocity.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RSA and Diffie-Hellman key exchange, with worked examples.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Computation: Python routines for sieve, gcd, Bezout, totient and modular powers; 312 tests pass.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stated theorem is checked on concrete numbers in this paper.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Preliminaries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Primes and Factorisation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Congruences and Euler / Fermat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Primitive Roots and Quadratic Residues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Cryptographic Applications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Computational Verification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 and Future Work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Python Code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theory studies the integers and their properties.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Public-key cryptography (1976, 1978) uses prime numbers and modular arithmetic.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prove the basic theorems on divisibility and primes.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develop congruences, including Fermat and Euler.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explain RSA and Diffie-Hellman using these results.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verify the examples with Python code.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Preliminaries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10312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Divisibility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| b means b = a c for some integer c.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 p &gt; 1 has only the divisors 1 and 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10312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Algorithm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 &gt; 0: a = bq + r with 0 &lt;= r &lt; b.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and r are unique.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12080" cy="210312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05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Divisor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262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gcd(a, b) is the largest common divisor.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are coprime if gcd(a, b) = 1.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212080" cy="210312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4005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Bezout's Identity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5262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integers x, y with ax + by = gcd(a, b).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Euclid's lemma: if p | ab and p is prime, then p | a or p | b.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Euclidean Algorithm: gcd(1071, 462)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84048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1071 = 2 x 462 + 147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 = 3 x 147 + 21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 = 7 x 21 + 0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463040"/>
            <a:ext cx="3840480" cy="237744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14884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gcd(1071, 462) = 21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nonzero remainder is the gcd.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80960" y="4114800"/>
            <a:ext cx="3840480" cy="182880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4279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Bezout Check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800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1071 x (-3) + 462 x 7 = 21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-3213 + 3234 = 21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Fundamental Theorem of Arithmetic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integer n &gt;= 2 is a product of primes, and this product is unique up to order.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7472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Existence: strong induction on 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Uniqueness: uses Euclid's lemma. If p1 divides q1 q2 ... qs, then p1 equals some qj.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3474720"/>
            <a:ext cx="4846320" cy="237744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36393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416052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= 2^3 x 3^2 x 5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= 2^3 x 5^3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 = 2 x 3 x 5 x 7 x 11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Infinitude of Primes (Euclid)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only finitely many primes p1, ..., pk exist.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 = p1 p2 ... pk + 1. Then N &gt;= 2.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has a prime divisor p.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one of the pi, so p divides N - p1 ... pk = 1.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impossible, so there are infinitely many primes.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680960" y="1463040"/>
            <a:ext cx="384048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1627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488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2, 3, 5: N = 2 x 3 x 5 + 1 = 31.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is itself prime.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80960" y="3931920"/>
            <a:ext cx="3840480" cy="192024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4096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4617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shows that some new prime divides N. It does not say N is always prime.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Primes up to 100 (Sieve of Eratosthenes)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19656" y="141732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19656" y="1417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07792" y="141732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1417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95928" y="141732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95928" y="1417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84064" y="141732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1417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214884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1488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819656" y="214884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19656" y="21488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07792" y="214884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07792" y="21488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995928" y="214884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95928" y="21488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84064" y="214884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84064" y="214884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" y="288036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28803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819656" y="288036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19656" y="28803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907792" y="288036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07792" y="28803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995928" y="288036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95928" y="28803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084064" y="288036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84064" y="288036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31520" y="361188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361188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819656" y="361188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819656" y="361188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2907792" y="361188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07792" y="361188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995928" y="361188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95928" y="361188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084064" y="361188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84064" y="361188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31520" y="4343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3434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819656" y="4343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819656" y="43434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2907792" y="4343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07792" y="43434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3995928" y="4343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95928" y="43434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084064" y="4343400"/>
            <a:ext cx="960120" cy="603504"/>
          </a:xfrm>
          <a:prstGeom prst="roundRect">
            <a:avLst>
              <a:gd name="adj" fmla="val 12121"/>
            </a:avLst>
          </a:prstGeom>
          <a:solidFill>
            <a:srgbClr val="F3D6D2"/>
          </a:solidFill>
          <a:ln w="12700">
            <a:solidFill>
              <a:srgbClr val="F3D6D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84064" y="434340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6949440" y="1417320"/>
            <a:ext cx="4572000" cy="237744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178040" y="1581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7178040" y="210312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25 primes up to 100.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pi(100) = 25.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49440" y="4023360"/>
            <a:ext cx="4572000" cy="182880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17804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Sieve Bound</a:t>
            </a:r>
            <a:endParaRPr lang="en-US" sz="2000" dirty="0"/>
          </a:p>
        </p:txBody>
      </p:sp>
      <p:sp>
        <p:nvSpPr>
          <p:cNvPr id="61" name="Text 59"/>
          <p:cNvSpPr txBox="1"/>
          <p:nvPr/>
        </p:nvSpPr>
        <p:spPr>
          <a:xfrm>
            <a:off x="7178040" y="47091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is composite, it has a prime factor p &lt;= sqrt(n).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only primes up to sqrt(n) are needed.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Congruences and Inverses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28600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b (mod n) means n divides a - b.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Congruence respects + and 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28600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 Theorem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 an inverse mod n iff gcd(a, n) = 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inverse is unique mod 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173736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879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inverse of 17 mod 3120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091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Bezout gives 17 x (-367) + 3120 x 2 = 1, so 17 x (-367) = 1 (mod 3120). Also -367 = 2753 (mod 3120).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Euler's Totient Function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phi(n) counts k with 1 &lt;= k &lt;= n and gcd(k, n) = 1.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phi(p) = p - 1 for prime 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phi(p^k) = p^k - p^(k-1).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phi(mn) = phi(m) phi(n) when gcd(m, n) = 1.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  <a:gridCol w="96926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Euler's and Fermat's Theorems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Euler's Theorem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gcd(a, n) = 1, then a^phi(n) = 1 (mod n).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Fermat's Little Theorem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is prime and p does not divide a, then a^(p-1) = 1 (mod p).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96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Idea and Example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reduced residues by a; they permute the residues, so the product cancels.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2^100 mod 101 = 1, since 101 is prime.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Fast Modular Exponentiation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exponent e in binary: e = sum of eps_i 2^i.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a^e = product of a^(2^i) over the i with eps_i = 1.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repeatedly and reduce mod n at each step.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log2(e) squarings are needed, which makes RSA practical.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40880" y="1463040"/>
            <a:ext cx="4480560" cy="420624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69480" y="16276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7^128 mod 13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14884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7^2 = 10, 7^4 = 9, 7^8 = 3 (mod 13).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= 8 mod 12, and 7^12 = 1.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7^128 = 7^8 = 3 (mod 13).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Primitive Roots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ord_n(a) is the least k &gt;= 1 with a^k = 1 (mod n).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is a primitive root mod n if ord_n(g) = phi(n).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prime p has a primitive root.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0" y="1463040"/>
            <a:ext cx="4663440" cy="228600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627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3 mod 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148840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Powers: 3, 2, 6, 4, 5, 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contain every nonzero residue mod 7.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0881360" cy="118872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736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Non-example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257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8 there is no primitive root, since every unit a has a^2 = 1.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Discrete Logarithms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 is a primitive root mod p, each unit a equals g^x for a unique x.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discrete logarithm of a to base g.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g^x mod p is fast; finding x from g^x is believed to be hard.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one-way behaviour is what Diffie-Hellman relies 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06640" y="1463040"/>
            <a:ext cx="411480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35240" y="1627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14884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 = 3, p = 7.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3^5 = 243 = 5 (mod 7), so log_3(5) = 5.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Quadratic Residues and Euler's Criterion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quadratic residue mod p if x^2 = a (mod p) has a solution.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Legendre symbol: (a/p) = 1, -1 or 0.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1945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Euler's Criterion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(a/p) = a^((p-1)/2) (mod p).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using a primitive root.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96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mod 11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177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residues mod 11: 1, 3, 4, 5, 9.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5^5 = 3125 = 1 (mod 11), so (5/11) = 1.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Gauss's Lemma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274320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 = (p-1)/2. For k = 1..m, let r_k be the least absolute residue of k a mod p.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 is the number of negative r_k, then (a/p) = (-1)^mu.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74320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Idea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|r_k| are exactly 1, ..., m.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all r_k and compare with a^m m! mod p, then use Euler's criterion.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451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(3/7)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663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3, -1, 2 for k = 1, 2, 3. Only one is negative, so (3/7) = -1.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Law of Quadratic Reciprocity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distinct odd primes p and q:  (p/q)(q/p) = (-1)^(((p-1)/2)((q-1)/2)).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7472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uses Eisenstein's form of Gauss's lemma.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lattice points (k, j) with kq &lt; jp shows the sums add to m 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0" y="3474720"/>
            <a:ext cx="4206240" cy="228600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36393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(3/11)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41605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(11/3) = (2/3) = -1.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(3/11)(11/3) = (-1)^5 = -1, so (3/11) = 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5^2 = 3 (mod 11).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RSA: Key Generation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distinct large primes p and q.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 = pq and phi(n) = (p-1)(q-1).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 with 1 &lt; e &lt; phi(n) and gcd(e, phi(n)) = 1.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 with e d = 1 (mod phi(n)) using the extended Euclidean algorithm.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key: (n, e).  Private key: 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98080" y="1463040"/>
            <a:ext cx="4023360" cy="237744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/ Decrypt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1488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Encrypt: c = m^e mod 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Decrypt: m = c^d mod 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RSA Worked Example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3093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obtained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61, 53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primes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pq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x 53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phi(n)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x 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gcd(17, 3120) =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x 2753 = 46801 = 15 x 3120 + 1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 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65^17 mod 3233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Decrypt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2790^2753 mod 3233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too small for real security. They only check the algebra.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Diffie-Hellman Key Exchange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prime p and primitive root 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sends A = g^a mod p. Bob sends B = g^b mod 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computes s = B^a mod p; Bob computes s = A^b mod 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equal g^(ab) mod p, so they share a key.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463040"/>
            <a:ext cx="4206240" cy="3017520"/>
          </a:xfrm>
          <a:prstGeom prst="rect">
            <a:avLst/>
          </a:prstGeom>
          <a:solidFill>
            <a:srgbClr val="FCE9D9"/>
          </a:solidFill>
          <a:ln w="9525">
            <a:solidFill>
              <a:srgbClr val="FCE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 = 23, g = 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14884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Alice: a = 6, A = 8.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Bob: b = 15, B = 19.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key: s = 2 for both.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 Security Assumptions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92608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assumes factoring n = pq is hard.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n and phi(n) lets an attacker recover p and q.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926080"/>
          </a:xfrm>
          <a:prstGeom prst="rect">
            <a:avLst/>
          </a:prstGeom>
          <a:solidFill>
            <a:srgbClr val="F9D2A8"/>
          </a:solidFill>
          <a:ln w="9525">
            <a:solidFill>
              <a:srgbClr val="F9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4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Diffie-Hellman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4884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assumes the discrete logarithm problem is hard.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man-in-the-middle attack needs authentication to be prevented.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634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assumption is proved; quantum computers may break both.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issues (padding, side channels, random numbers) are outside this paper.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Computational Verification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Primes up to 100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(matches pi(100) = 25)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phi(n) vs brute force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Agrees for all n &lt; 300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Bezout identity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in all 5 tabulated pairs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Euler's theorem (random tests)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in every coprime case tested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suite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 tests pass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8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120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-m pytest research-paper/code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Conclusion and Future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Proved: unique factorisation, Euclid's theorem, Euler and Fermat, Gauss's lemma and quadratic reciprocity.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RSA correctness and Diffie-Hellman key agreement.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Miller-Rabin primality testing, elliptic-curve cryptography, timing at real key sizes.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RAJARSHI TANDON OPEN UNIVERSITY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Hardy, G. H. and Wright, E. M. An Introduction to the Theory of Numbers, 6th ed., OUP, 2008.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Niven, I., Zuckerman, H. S. and Montgomery, H. L. An Introduction to the Theory of Numbers, 5th ed., Wiley, 1991.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Koblitz, N. A Course in Number Theory and Cryptography, 2nd ed., Springer, 1994.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Stinson, D. R. Cryptography: Theory and Practice, 3rd ed., CRC Press, 2006.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Diffie, W. and Hellman, M. E. New Directions in Cryptography, IEEE Trans. Inf. Theory, 1976.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Rivest, R. L., Shamir, A. and Adleman, L. CACM 21(2), 1978.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5875">
            <a:solidFill>
              <a:srgbClr val="5B6FB5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457200" y="23774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|  [Enrollment No.]  |  [College Name]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Elementary Number Theory and Public-Key Cryptography</dc:title>
  <dc:subject>PptxGenJS Presentation</dc:subject>
  <dc:creator>[Student Name]</dc:creator>
  <cp:lastModifiedBy>[Student Name]</cp:lastModifiedBy>
  <cp:revision>1</cp:revision>
  <dcterms:created xsi:type="dcterms:W3CDTF">2026-10-27T02:50:22Z</dcterms:created>
  <dcterms:modified xsi:type="dcterms:W3CDTF">2026-10-27T02:50:22Z</dcterms:modified>
</cp:coreProperties>
</file>